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91440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0">
                <a:solidFill>
                  <a:srgbClr val="F0F0FA"/>
                </a:solidFill>
                <a:latin typeface="Calibri"/>
              </a:defRPr>
            </a:pPr>
            <a:r>
              <a:t>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38BDF8"/>
                </a:solidFill>
                <a:latin typeface="Calibri"/>
              </a:defRPr>
            </a:pPr>
            <a:r>
              <a:t>Smart College Event Management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74320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6391FF"/>
                </a:solidFill>
                <a:latin typeface="Calibri"/>
              </a:defRPr>
            </a:pPr>
            <a:r>
              <a:t>Database Design &amp;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6576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  <a:latin typeface="Calibri"/>
              </a:defRPr>
            </a:pPr>
            <a:r>
              <a:t>DBMS Mini Project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4754880"/>
            <a:ext cx="5760720" cy="1097280"/>
          </a:xfrm>
          <a:prstGeom prst="roundRect">
            <a:avLst/>
          </a:prstGeom>
          <a:solidFill>
            <a:srgbClr val="1E2945"/>
          </a:solidFill>
          <a:ln w="12700">
            <a:solidFill>
              <a:srgbClr val="3741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0" y="4846320"/>
            <a:ext cx="5212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38BDF8"/>
                </a:solidFill>
                <a:latin typeface="Calibri"/>
              </a:defRPr>
            </a:pPr>
            <a:r>
              <a:t>4 Tables  •  BCNF Normalized  •  ER Model  •  Referential Integrity</a:t>
            </a:r>
          </a:p>
          <a:p>
            <a:pPr algn="ctr">
              <a:spcBef>
                <a:spcPts val="400"/>
              </a:spcBef>
              <a:defRPr sz="1500" b="0">
                <a:solidFill>
                  <a:srgbClr val="6391FF"/>
                </a:solidFill>
              </a:defRPr>
            </a:pPr>
            <a:r>
              <a:t>Triggers  •  Views  •  Transactions  •  Indexes  •  ACID Properties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7432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38BDF8"/>
                </a:solidFill>
                <a:latin typeface="Calibri"/>
              </a:defRPr>
            </a:pPr>
            <a:r>
              <a:t>📌  Problem Statement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1188720"/>
            <a:ext cx="9418320" cy="1828800"/>
          </a:xfrm>
          <a:prstGeom prst="roundRect">
            <a:avLst/>
          </a:prstGeom>
          <a:solidFill>
            <a:srgbClr val="1E2945"/>
          </a:solidFill>
          <a:ln w="12700">
            <a:solidFill>
              <a:srgbClr val="3741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1280160"/>
            <a:ext cx="8869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0F0FA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600" b="0">
                <a:solidFill>
                  <a:srgbClr val="F0F0FA"/>
                </a:solidFill>
              </a:defRPr>
            </a:pPr>
            <a:r>
              <a:t>Colleges conduct numerous events (workshops, fests, seminars) throughout the year.</a:t>
            </a:r>
          </a:p>
          <a:p>
            <a:pPr algn="l">
              <a:spcBef>
                <a:spcPts val="1200"/>
              </a:spcBef>
              <a:defRPr sz="1600" b="0">
                <a:solidFill>
                  <a:srgbClr val="F0F0FA"/>
                </a:solidFill>
              </a:defRPr>
            </a:pPr>
            <a:r>
              <a:t>Managing registrations manually leads to: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FB923C"/>
                </a:solidFill>
              </a:defRPr>
            </a:pPr>
            <a:r>
              <a:t>▸  Overbooking — more students registered than seats available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FB923C"/>
                </a:solidFill>
              </a:defRPr>
            </a:pPr>
            <a:r>
              <a:t>▸  Data redundancy — same information stored in multiple places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FB923C"/>
                </a:solidFill>
              </a:defRPr>
            </a:pPr>
            <a:r>
              <a:t>▸  No tracking — no record of who registered for what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3832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4D399"/>
                </a:solidFill>
                <a:latin typeface="Calibri"/>
              </a:defRPr>
            </a:pPr>
            <a:r>
              <a:t>Our Solution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3474720" cy="2560320"/>
          </a:xfrm>
          <a:prstGeom prst="roundRect">
            <a:avLst/>
          </a:prstGeom>
          <a:solidFill>
            <a:srgbClr val="1E2945"/>
          </a:solidFill>
          <a:ln w="12700">
            <a:solidFill>
              <a:srgbClr val="3741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0690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8BDF8"/>
                </a:solidFill>
                <a:latin typeface="Calibri"/>
              </a:defRPr>
            </a:pPr>
            <a:r>
              <a:t>👨‍🎓  For Students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526280"/>
            <a:ext cx="2926079" cy="1828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0F0FA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1400" b="0">
                <a:solidFill>
                  <a:srgbClr val="F0F0FA"/>
                </a:solidFill>
              </a:defRPr>
            </a:pPr>
            <a:r>
              <a:t>▸  Register using USN (unique ID)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0F0FA"/>
                </a:solidFill>
              </a:defRPr>
            </a:pPr>
            <a:r>
              <a:t>▸  Browse &amp; search events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0F0FA"/>
                </a:solidFill>
              </a:defRPr>
            </a:pPr>
            <a:r>
              <a:t>▸  Register/unregister for events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0F0FA"/>
                </a:solidFill>
              </a:defRPr>
            </a:pPr>
            <a:r>
              <a:t>▸  View their registrations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3931920"/>
            <a:ext cx="3474720" cy="2560320"/>
          </a:xfrm>
          <a:prstGeom prst="roundRect">
            <a:avLst/>
          </a:prstGeom>
          <a:solidFill>
            <a:srgbClr val="1E2945"/>
          </a:solidFill>
          <a:ln w="12700">
            <a:solidFill>
              <a:srgbClr val="3741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40690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8BDF8"/>
                </a:solidFill>
                <a:latin typeface="Calibri"/>
              </a:defRPr>
            </a:pPr>
            <a:r>
              <a:t>🛡️  For Admins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4526280"/>
            <a:ext cx="2926079" cy="1828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0F0FA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1400" b="0">
                <a:solidFill>
                  <a:srgbClr val="F0F0FA"/>
                </a:solidFill>
              </a:defRPr>
            </a:pPr>
            <a:r>
              <a:t>▸  Create, edit, delete events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0F0FA"/>
                </a:solidFill>
              </a:defRPr>
            </a:pPr>
            <a:r>
              <a:t>▸  View registrations per event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0F0FA"/>
                </a:solidFill>
              </a:defRPr>
            </a:pPr>
            <a:r>
              <a:t>▸  Manage student records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0F0FA"/>
                </a:solidFill>
              </a:defRPr>
            </a:pPr>
            <a:r>
              <a:t>▸  See participation summary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3931920"/>
            <a:ext cx="3474720" cy="2560320"/>
          </a:xfrm>
          <a:prstGeom prst="roundRect">
            <a:avLst/>
          </a:prstGeom>
          <a:solidFill>
            <a:srgbClr val="1E2945"/>
          </a:solidFill>
          <a:ln w="12700">
            <a:solidFill>
              <a:srgbClr val="3741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40690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8BDF8"/>
                </a:solidFill>
                <a:latin typeface="Calibri"/>
              </a:defRPr>
            </a:pPr>
            <a:r>
              <a:t>🗄️  Database Goals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4526280"/>
            <a:ext cx="2926079" cy="1828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0F0FA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1400" b="0">
                <a:solidFill>
                  <a:srgbClr val="F0F0FA"/>
                </a:solidFill>
              </a:defRPr>
            </a:pPr>
            <a:r>
              <a:t>▸  Eliminate data redundancy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0F0FA"/>
                </a:solidFill>
              </a:defRPr>
            </a:pPr>
            <a:r>
              <a:t>▸  Ensure data integrity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0F0FA"/>
                </a:solidFill>
              </a:defRPr>
            </a:pPr>
            <a:r>
              <a:t>▸  Prevent overbooking automatically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0F0FA"/>
                </a:solidFill>
              </a:defRPr>
            </a:pPr>
            <a:r>
              <a:t>▸  ACID-compliant transactions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8288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38BDF8"/>
                </a:solidFill>
                <a:latin typeface="Calibri"/>
              </a:defRPr>
            </a:pPr>
            <a:r>
              <a:t>📐  Entity-Relationship (ER) Diagram</a:t>
            </a:r>
          </a:p>
        </p:txBody>
      </p:sp>
      <p:pic>
        <p:nvPicPr>
          <p:cNvPr id="3" name="Picture 2" descr="er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5943600" cy="530352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858000" y="914400"/>
            <a:ext cx="4846320" cy="2377440"/>
          </a:xfrm>
          <a:prstGeom prst="roundRect">
            <a:avLst/>
          </a:prstGeom>
          <a:solidFill>
            <a:srgbClr val="1E2945"/>
          </a:solidFill>
          <a:ln w="12700">
            <a:solidFill>
              <a:srgbClr val="3741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40880" y="1051560"/>
            <a:ext cx="44805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6391FF"/>
                </a:solidFill>
                <a:latin typeface="Calibri"/>
              </a:defRPr>
            </a:pPr>
            <a:r>
              <a:t>Entities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0" y="1508760"/>
            <a:ext cx="4297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0F0FA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1400" b="0">
                <a:solidFill>
                  <a:srgbClr val="F0F0FA"/>
                </a:solidFill>
              </a:defRPr>
            </a:pPr>
            <a:r>
              <a:t>▸  STUDENT — stores student data (USN, name, dept)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0F0FA"/>
                </a:solidFill>
              </a:defRPr>
            </a:pPr>
            <a:r>
              <a:t>▸  FACULTY — stores admin data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0F0FA"/>
                </a:solidFill>
              </a:defRPr>
            </a:pPr>
            <a:r>
              <a:t>▸  EVENT — stores event details (name, date, venue)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0F0FA"/>
                </a:solidFill>
              </a:defRPr>
            </a:pPr>
            <a:r>
              <a:t>▸  REGISTRATION — links students to events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3474720"/>
            <a:ext cx="4846320" cy="1371600"/>
          </a:xfrm>
          <a:prstGeom prst="roundRect">
            <a:avLst/>
          </a:prstGeom>
          <a:solidFill>
            <a:srgbClr val="1E2945"/>
          </a:solidFill>
          <a:ln w="12700">
            <a:solidFill>
              <a:srgbClr val="3741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0" y="3611879"/>
            <a:ext cx="44805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6391FF"/>
                </a:solidFill>
                <a:latin typeface="Calibri"/>
              </a:defRPr>
            </a:pPr>
            <a:r>
              <a:t>Relationships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4069080"/>
            <a:ext cx="4297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0F0FA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1400" b="0">
                <a:solidFill>
                  <a:srgbClr val="F0F0FA"/>
                </a:solidFill>
              </a:defRPr>
            </a:pPr>
            <a:r>
              <a:t>▸  Faculty ORGANIZES Events → 1 : N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0F0FA"/>
                </a:solidFill>
              </a:defRPr>
            </a:pPr>
            <a:r>
              <a:t>▸  Students REGISTER FOR Events → M : 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5029200"/>
            <a:ext cx="4846320" cy="1371600"/>
          </a:xfrm>
          <a:prstGeom prst="roundRect">
            <a:avLst/>
          </a:prstGeom>
          <a:solidFill>
            <a:srgbClr val="1E2945"/>
          </a:solidFill>
          <a:ln w="12700">
            <a:solidFill>
              <a:srgbClr val="3741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0" y="5166360"/>
            <a:ext cx="44805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6391FF"/>
                </a:solidFill>
                <a:latin typeface="Calibri"/>
              </a:defRPr>
            </a:pPr>
            <a:r>
              <a:t>Key Observation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5623560"/>
            <a:ext cx="4297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0F0FA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1400" b="0">
                <a:solidFill>
                  <a:srgbClr val="F0F0FA"/>
                </a:solidFill>
              </a:defRPr>
            </a:pPr>
            <a:r>
              <a:t>▸  M:N relationship resolved via REGISTRATION table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0F0FA"/>
                </a:solidFill>
              </a:defRPr>
            </a:pPr>
            <a:r>
              <a:t>▸  Acts as a junction/bridge table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8288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38BDF8"/>
                </a:solidFill>
                <a:latin typeface="Calibri"/>
              </a:defRPr>
            </a:pPr>
            <a:r>
              <a:t>🗂️  Relational Schema</a:t>
            </a:r>
          </a:p>
        </p:txBody>
      </p:sp>
      <p:pic>
        <p:nvPicPr>
          <p:cNvPr id="3" name="Picture 2" descr="schema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5943600" cy="530352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858000" y="914400"/>
            <a:ext cx="4846320" cy="1828800"/>
          </a:xfrm>
          <a:prstGeom prst="roundRect">
            <a:avLst/>
          </a:prstGeom>
          <a:solidFill>
            <a:srgbClr val="1E2945"/>
          </a:solidFill>
          <a:ln w="12700">
            <a:solidFill>
              <a:srgbClr val="3741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40880" y="1051560"/>
            <a:ext cx="44805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8BDF8"/>
                </a:solidFill>
                <a:latin typeface="Calibri"/>
              </a:defRPr>
            </a:pPr>
            <a:r>
              <a:t>Primary Keys (Blue)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0" y="1508760"/>
            <a:ext cx="4297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0F0FA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1400" b="0">
                <a:solidFill>
                  <a:srgbClr val="F0F0FA"/>
                </a:solidFill>
              </a:defRPr>
            </a:pPr>
            <a:r>
              <a:t>▸  Student_ID — uniquely identifies each student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0F0FA"/>
                </a:solidFill>
              </a:defRPr>
            </a:pPr>
            <a:r>
              <a:t>▸  Faculty_ID — uniquely identifies each admin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0F0FA"/>
                </a:solidFill>
              </a:defRPr>
            </a:pPr>
            <a:r>
              <a:t>▸  Event_ID — uniquely identifies each event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0F0FA"/>
                </a:solidFill>
              </a:defRPr>
            </a:pPr>
            <a:r>
              <a:t>▸  Reg_ID — uniquely identifies each registration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2926080"/>
            <a:ext cx="4846320" cy="2011680"/>
          </a:xfrm>
          <a:prstGeom prst="roundRect">
            <a:avLst/>
          </a:prstGeom>
          <a:solidFill>
            <a:srgbClr val="1E2945"/>
          </a:solidFill>
          <a:ln w="12700">
            <a:solidFill>
              <a:srgbClr val="3741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0" y="3063240"/>
            <a:ext cx="44805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B923C"/>
                </a:solidFill>
                <a:latin typeface="Calibri"/>
              </a:defRPr>
            </a:pPr>
            <a:r>
              <a:t>Foreign Keys (Orange)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3520440"/>
            <a:ext cx="4297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0F0FA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1400" b="0">
                <a:solidFill>
                  <a:srgbClr val="F0F0FA"/>
                </a:solidFill>
              </a:defRPr>
            </a:pPr>
            <a:r>
              <a:t>▸  EVENT.Faculty_ID → FACULTY (ON DELETE SET NULL)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0F0FA"/>
                </a:solidFill>
              </a:defRPr>
            </a:pPr>
            <a:r>
              <a:t>▸  REG.Student_ID → STUDENT (ON DELETE CASCADE)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0F0FA"/>
                </a:solidFill>
              </a:defRPr>
            </a:pPr>
            <a:r>
              <a:t>▸  REG.Event_ID → EVENT (ON DELETE CASCADE)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0F0FA"/>
                </a:solidFill>
              </a:defRPr>
            </a:pPr>
            <a:r>
              <a:t>▸  Ensures referential integrity across tables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5120640"/>
            <a:ext cx="4846320" cy="1280160"/>
          </a:xfrm>
          <a:prstGeom prst="roundRect">
            <a:avLst/>
          </a:prstGeom>
          <a:solidFill>
            <a:srgbClr val="1E2945"/>
          </a:solidFill>
          <a:ln w="12700">
            <a:solidFill>
              <a:srgbClr val="3741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0" y="5257800"/>
            <a:ext cx="44805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4D399"/>
                </a:solidFill>
                <a:latin typeface="Calibri"/>
              </a:defRPr>
            </a:pPr>
            <a:r>
              <a:t>Unique Constraints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5715000"/>
            <a:ext cx="4297680" cy="548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0F0FA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1400" b="0">
                <a:solidFill>
                  <a:srgbClr val="F0F0FA"/>
                </a:solidFill>
              </a:defRPr>
            </a:pPr>
            <a:r>
              <a:t>▸  Student USN — primary identity for students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0F0FA"/>
                </a:solidFill>
              </a:defRPr>
            </a:pPr>
            <a:r>
              <a:t>▸  Student &amp; Faculty Email — prevents duplicates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0F0FA"/>
                </a:solidFill>
              </a:defRPr>
            </a:pPr>
            <a:r>
              <a:t>▸  UNIQUE(Student_ID, Event_ID) — no double registration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7432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38BDF8"/>
                </a:solidFill>
                <a:latin typeface="Calibri"/>
              </a:defRPr>
            </a:pPr>
            <a:r>
              <a:t>✅  Normalization — BCNF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82296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94A3B8"/>
                </a:solidFill>
                <a:latin typeface="Calibri"/>
              </a:defRPr>
            </a:pPr>
            <a:r>
              <a:t>All tables satisfy Boyce-Codd Normal Form, eliminating all anomalies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2651760" cy="3657600"/>
          </a:xfrm>
          <a:prstGeom prst="roundRect">
            <a:avLst/>
          </a:prstGeom>
          <a:solidFill>
            <a:srgbClr val="1E2945"/>
          </a:solidFill>
          <a:ln w="12700">
            <a:solidFill>
              <a:srgbClr val="3741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4D399"/>
                </a:solidFill>
                <a:latin typeface="Calibri"/>
              </a:defRPr>
            </a:pPr>
            <a:r>
              <a:t>1NF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First Normal 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77440"/>
            <a:ext cx="2286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A"/>
                </a:solidFill>
                <a:latin typeface="Calibri"/>
              </a:defRPr>
            </a:pPr>
          </a:p>
          <a:p>
            <a:pPr algn="l">
              <a:spcBef>
                <a:spcPts val="500"/>
              </a:spcBef>
              <a:defRPr sz="1300" b="0">
                <a:solidFill>
                  <a:srgbClr val="F0F0FA"/>
                </a:solidFill>
              </a:defRPr>
            </a:pPr>
            <a:r>
              <a:t>▸  All attribute values are atomic</a:t>
            </a:r>
          </a:p>
          <a:p>
            <a:pPr algn="l">
              <a:spcBef>
                <a:spcPts val="500"/>
              </a:spcBef>
              <a:defRPr sz="1300" b="0">
                <a:solidFill>
                  <a:srgbClr val="F0F0FA"/>
                </a:solidFill>
              </a:defRPr>
            </a:pPr>
            <a:r>
              <a:t>▸  No multi-valued attributes</a:t>
            </a:r>
          </a:p>
          <a:p>
            <a:pPr algn="l">
              <a:spcBef>
                <a:spcPts val="500"/>
              </a:spcBef>
              <a:defRPr sz="1300" b="0">
                <a:solidFill>
                  <a:srgbClr val="F0F0FA"/>
                </a:solidFill>
              </a:defRPr>
            </a:pPr>
            <a:r>
              <a:t>▸  No repeating groups</a:t>
            </a:r>
          </a:p>
          <a:p>
            <a:pPr algn="l">
              <a:spcBef>
                <a:spcPts val="500"/>
              </a:spcBef>
              <a:defRPr sz="1300" b="0">
                <a:solidFill>
                  <a:srgbClr val="F0F0FA"/>
                </a:solidFill>
              </a:defRPr>
            </a:pPr>
            <a:r>
              <a:t>▸  Each cell has a single value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371600"/>
            <a:ext cx="2651760" cy="3657600"/>
          </a:xfrm>
          <a:prstGeom prst="roundRect">
            <a:avLst/>
          </a:prstGeom>
          <a:solidFill>
            <a:srgbClr val="1E2945"/>
          </a:solidFill>
          <a:ln w="12700">
            <a:solidFill>
              <a:srgbClr val="3741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9000" y="14630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8BDF8"/>
                </a:solidFill>
                <a:latin typeface="Calibri"/>
              </a:defRPr>
            </a:pPr>
            <a:r>
              <a:t>2NF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192024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Second Normal 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2377440"/>
            <a:ext cx="2286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A"/>
                </a:solidFill>
                <a:latin typeface="Calibri"/>
              </a:defRPr>
            </a:pPr>
          </a:p>
          <a:p>
            <a:pPr algn="l">
              <a:spcBef>
                <a:spcPts val="500"/>
              </a:spcBef>
              <a:defRPr sz="1300" b="0">
                <a:solidFill>
                  <a:srgbClr val="F0F0FA"/>
                </a:solidFill>
              </a:defRPr>
            </a:pPr>
            <a:r>
              <a:t>▸  Satisfies 1NF</a:t>
            </a:r>
          </a:p>
          <a:p>
            <a:pPr algn="l">
              <a:spcBef>
                <a:spcPts val="500"/>
              </a:spcBef>
              <a:defRPr sz="1300" b="0">
                <a:solidFill>
                  <a:srgbClr val="F0F0FA"/>
                </a:solidFill>
              </a:defRPr>
            </a:pPr>
            <a:r>
              <a:t>▸  No partial dependencies</a:t>
            </a:r>
          </a:p>
          <a:p>
            <a:pPr algn="l">
              <a:spcBef>
                <a:spcPts val="500"/>
              </a:spcBef>
              <a:defRPr sz="1300" b="0">
                <a:solidFill>
                  <a:srgbClr val="F0F0FA"/>
                </a:solidFill>
              </a:defRPr>
            </a:pPr>
            <a:r>
              <a:t>▸  Non-key attributes depend on</a:t>
            </a:r>
          </a:p>
          <a:p>
            <a:pPr algn="l">
              <a:spcBef>
                <a:spcPts val="500"/>
              </a:spcBef>
              <a:defRPr sz="1300" b="0">
                <a:solidFill>
                  <a:srgbClr val="F0F0FA"/>
                </a:solidFill>
              </a:defRPr>
            </a:pPr>
            <a:r>
              <a:t>     the ENTIRE primary key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59" y="1371600"/>
            <a:ext cx="2651760" cy="3657600"/>
          </a:xfrm>
          <a:prstGeom prst="roundRect">
            <a:avLst/>
          </a:prstGeom>
          <a:solidFill>
            <a:srgbClr val="1E2945"/>
          </a:solidFill>
          <a:ln w="12700">
            <a:solidFill>
              <a:srgbClr val="3741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59" y="14630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6391FF"/>
                </a:solidFill>
                <a:latin typeface="Calibri"/>
              </a:defRPr>
            </a:pPr>
            <a:r>
              <a:t>3NF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59" y="192024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Third Normal Form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377440"/>
            <a:ext cx="2286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A"/>
                </a:solidFill>
                <a:latin typeface="Calibri"/>
              </a:defRPr>
            </a:pPr>
          </a:p>
          <a:p>
            <a:pPr algn="l">
              <a:spcBef>
                <a:spcPts val="500"/>
              </a:spcBef>
              <a:defRPr sz="1300" b="0">
                <a:solidFill>
                  <a:srgbClr val="F0F0FA"/>
                </a:solidFill>
              </a:defRPr>
            </a:pPr>
            <a:r>
              <a:t>▸  Satisfies 2NF</a:t>
            </a:r>
          </a:p>
          <a:p>
            <a:pPr algn="l">
              <a:spcBef>
                <a:spcPts val="500"/>
              </a:spcBef>
              <a:defRPr sz="1300" b="0">
                <a:solidFill>
                  <a:srgbClr val="F0F0FA"/>
                </a:solidFill>
              </a:defRPr>
            </a:pPr>
            <a:r>
              <a:t>▸  No transitive dependencies</a:t>
            </a:r>
          </a:p>
          <a:p>
            <a:pPr algn="l">
              <a:spcBef>
                <a:spcPts val="500"/>
              </a:spcBef>
              <a:defRPr sz="1300" b="0">
                <a:solidFill>
                  <a:srgbClr val="F0F0FA"/>
                </a:solidFill>
              </a:defRPr>
            </a:pPr>
            <a:r>
              <a:t>▸  Non-key attributes depend</a:t>
            </a:r>
          </a:p>
          <a:p>
            <a:pPr algn="l">
              <a:spcBef>
                <a:spcPts val="500"/>
              </a:spcBef>
              <a:defRPr sz="1300" b="0">
                <a:solidFill>
                  <a:srgbClr val="F0F0FA"/>
                </a:solidFill>
              </a:defRPr>
            </a:pPr>
            <a:r>
              <a:t>     ONLY on primary key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89719" y="1371600"/>
            <a:ext cx="2651760" cy="3657600"/>
          </a:xfrm>
          <a:prstGeom prst="roundRect">
            <a:avLst/>
          </a:prstGeom>
          <a:solidFill>
            <a:srgbClr val="1E2945"/>
          </a:solidFill>
          <a:ln w="12700">
            <a:solidFill>
              <a:srgbClr val="3741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89719" y="14630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ACC15"/>
                </a:solidFill>
                <a:latin typeface="Calibri"/>
              </a:defRPr>
            </a:pPr>
            <a:r>
              <a:t>BCNF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9719" y="192024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Boyce-Codd NF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72599" y="2377440"/>
            <a:ext cx="2286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A"/>
                </a:solidFill>
                <a:latin typeface="Calibri"/>
              </a:defRPr>
            </a:pPr>
          </a:p>
          <a:p>
            <a:pPr algn="l">
              <a:spcBef>
                <a:spcPts val="500"/>
              </a:spcBef>
              <a:defRPr sz="1300" b="0">
                <a:solidFill>
                  <a:srgbClr val="F0F0FA"/>
                </a:solidFill>
              </a:defRPr>
            </a:pPr>
            <a:r>
              <a:t>▸  Satisfies 3NF</a:t>
            </a:r>
          </a:p>
          <a:p>
            <a:pPr algn="l">
              <a:spcBef>
                <a:spcPts val="500"/>
              </a:spcBef>
              <a:defRPr sz="1300" b="0">
                <a:solidFill>
                  <a:srgbClr val="F0F0FA"/>
                </a:solidFill>
              </a:defRPr>
            </a:pPr>
            <a:r>
              <a:t>▸  Every determinant is a</a:t>
            </a:r>
          </a:p>
          <a:p>
            <a:pPr algn="l">
              <a:spcBef>
                <a:spcPts val="500"/>
              </a:spcBef>
              <a:defRPr sz="1300" b="0">
                <a:solidFill>
                  <a:srgbClr val="F0F0FA"/>
                </a:solidFill>
              </a:defRPr>
            </a:pPr>
            <a:r>
              <a:t>     candidate key</a:t>
            </a:r>
          </a:p>
          <a:p>
            <a:pPr algn="l">
              <a:spcBef>
                <a:spcPts val="500"/>
              </a:spcBef>
              <a:defRPr sz="1300" b="0">
                <a:solidFill>
                  <a:srgbClr val="F0F0FA"/>
                </a:solidFill>
              </a:defRPr>
            </a:pPr>
            <a:r>
              <a:t>▸  Strictest practical form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71600" y="5303520"/>
            <a:ext cx="9418320" cy="1188720"/>
          </a:xfrm>
          <a:prstGeom prst="roundRect">
            <a:avLst/>
          </a:prstGeom>
          <a:solidFill>
            <a:srgbClr val="1E2945"/>
          </a:solidFill>
          <a:ln w="12700">
            <a:solidFill>
              <a:srgbClr val="3741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45920" y="5394960"/>
            <a:ext cx="8869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ACC15"/>
                </a:solidFill>
                <a:latin typeface="Calibri"/>
              </a:defRPr>
            </a:pPr>
            <a:r>
              <a:t>Why Normalize?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94A3B8"/>
                </a:solidFill>
              </a:defRPr>
            </a:pPr>
            <a:r>
              <a:t>Without normalization, databases suffer from anomalies: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F0F0FA"/>
                </a:solidFill>
              </a:defRPr>
            </a:pPr>
            <a:r>
              <a:t>▸  Insertion Anomaly — cannot add data without unrelated data</a:t>
            </a:r>
          </a:p>
          <a:p>
            <a:pPr algn="l">
              <a:spcBef>
                <a:spcPts val="200"/>
              </a:spcBef>
              <a:defRPr sz="1300" b="0">
                <a:solidFill>
                  <a:srgbClr val="F0F0FA"/>
                </a:solidFill>
              </a:defRPr>
            </a:pPr>
            <a:r>
              <a:t>▸  Update Anomaly — inconsistency when same data stored in multiple rows</a:t>
            </a:r>
          </a:p>
          <a:p>
            <a:pPr algn="l">
              <a:spcBef>
                <a:spcPts val="200"/>
              </a:spcBef>
              <a:defRPr sz="1300" b="0">
                <a:solidFill>
                  <a:srgbClr val="F0F0FA"/>
                </a:solidFill>
              </a:defRPr>
            </a:pPr>
            <a:r>
              <a:t>▸  Deletion Anomaly — deleting one record accidentally removes other needed data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7432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38BDF8"/>
                </a:solidFill>
                <a:latin typeface="Calibri"/>
              </a:defRPr>
            </a:pPr>
            <a:r>
              <a:t>🔒  Data Integrity &amp; Constraints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97280"/>
            <a:ext cx="3657600" cy="2560320"/>
          </a:xfrm>
          <a:prstGeom prst="roundRect">
            <a:avLst/>
          </a:prstGeom>
          <a:solidFill>
            <a:srgbClr val="1E2945"/>
          </a:solidFill>
          <a:ln w="12700">
            <a:solidFill>
              <a:srgbClr val="3741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34439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8BDF8"/>
                </a:solidFill>
                <a:latin typeface="Calibri"/>
              </a:defRPr>
            </a:pPr>
            <a:r>
              <a:t>🔑  Entity Integrity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1691640"/>
            <a:ext cx="3108960" cy="1828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0F0FA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1400" b="0">
                <a:solidFill>
                  <a:srgbClr val="F0F0FA"/>
                </a:solidFill>
              </a:defRPr>
            </a:pPr>
            <a:r>
              <a:t>▸  Every table has a PRIMARY KEY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0F0FA"/>
                </a:solidFill>
              </a:defRPr>
            </a:pPr>
            <a:r>
              <a:t>▸  Primary keys are auto-incremented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0F0FA"/>
                </a:solidFill>
              </a:defRPr>
            </a:pPr>
            <a:r>
              <a:t>▸  PRIMARY KEY = NOT NULL + UNIQUE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0F0FA"/>
                </a:solidFill>
              </a:defRPr>
            </a:pPr>
            <a:r>
              <a:t>▸  Guarantees every row is identifiable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097280"/>
            <a:ext cx="3657600" cy="2560320"/>
          </a:xfrm>
          <a:prstGeom prst="roundRect">
            <a:avLst/>
          </a:prstGeom>
          <a:solidFill>
            <a:srgbClr val="1E2945"/>
          </a:solidFill>
          <a:ln w="12700">
            <a:solidFill>
              <a:srgbClr val="3741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234439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B923C"/>
                </a:solidFill>
                <a:latin typeface="Calibri"/>
              </a:defRPr>
            </a:pPr>
            <a:r>
              <a:t>🔗  Referential Integrity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1691640"/>
            <a:ext cx="3108960" cy="1828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0F0FA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1400" b="0">
                <a:solidFill>
                  <a:srgbClr val="F0F0FA"/>
                </a:solidFill>
              </a:defRPr>
            </a:pPr>
            <a:r>
              <a:t>▸  Foreign keys reference valid primary keys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0F0FA"/>
                </a:solidFill>
              </a:defRPr>
            </a:pPr>
            <a:r>
              <a:t>▸  ON DELETE CASCADE — auto-remove child rows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0F0FA"/>
                </a:solidFill>
              </a:defRPr>
            </a:pPr>
            <a:r>
              <a:t>▸  ON DELETE SET NULL — preserve but unlink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0F0FA"/>
                </a:solidFill>
              </a:defRPr>
            </a:pPr>
            <a:r>
              <a:t>▸  No orphan records possible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097280"/>
            <a:ext cx="3657600" cy="2560320"/>
          </a:xfrm>
          <a:prstGeom prst="roundRect">
            <a:avLst/>
          </a:prstGeom>
          <a:solidFill>
            <a:srgbClr val="1E2945"/>
          </a:solidFill>
          <a:ln w="12700">
            <a:solidFill>
              <a:srgbClr val="3741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1234439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4D399"/>
                </a:solidFill>
                <a:latin typeface="Calibri"/>
              </a:defRPr>
            </a:pPr>
            <a:r>
              <a:t>🛡️  Domain Integrity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1691640"/>
            <a:ext cx="3108960" cy="1828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0F0FA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1400" b="0">
                <a:solidFill>
                  <a:srgbClr val="F0F0FA"/>
                </a:solidFill>
              </a:defRPr>
            </a:pPr>
            <a:r>
              <a:t>▸  NOT NULL — required fields enforced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0F0FA"/>
                </a:solidFill>
              </a:defRPr>
            </a:pPr>
            <a:r>
              <a:t>▸  UNIQUE — no duplicate USN or email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0F0FA"/>
                </a:solidFill>
              </a:defRPr>
            </a:pPr>
            <a:r>
              <a:t>▸  DEFAULT values — Max_Seats = 100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0F0FA"/>
                </a:solidFill>
              </a:defRPr>
            </a:pPr>
            <a:r>
              <a:t>▸  TEXT, INTEGER types enforce format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931920"/>
            <a:ext cx="11155680" cy="2560320"/>
          </a:xfrm>
          <a:prstGeom prst="roundRect">
            <a:avLst/>
          </a:prstGeom>
          <a:solidFill>
            <a:srgbClr val="1E2945"/>
          </a:solidFill>
          <a:ln w="12700">
            <a:solidFill>
              <a:srgbClr val="3741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02336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ACC15"/>
                </a:solidFill>
                <a:latin typeface="Calibri"/>
              </a:defRPr>
            </a:pPr>
            <a:r>
              <a:t>Constraints Applied in Our Schema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5720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A"/>
                </a:solidFill>
                <a:latin typeface="Calibri"/>
              </a:defRPr>
            </a:pPr>
            <a:r>
              <a:rPr b="1" sz="1200">
                <a:solidFill>
                  <a:srgbClr val="38BDF8"/>
                </a:solidFill>
              </a:rPr>
              <a:t>  PRIMARY KEY</a:t>
            </a:r>
            <a:r>
              <a:rPr sz="1200">
                <a:solidFill>
                  <a:srgbClr val="F0F0FA"/>
                </a:solidFill>
              </a:rPr>
              <a:t>   →   Student_ID, Faculty_ID, Event_ID, Reg_ID</a:t>
            </a:r>
            <a:r>
              <a:rPr sz="1100">
                <a:solidFill>
                  <a:srgbClr val="94A3B8"/>
                </a:solidFill>
              </a:rPr>
              <a:t>   (Unique row identifier)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86460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A"/>
                </a:solidFill>
                <a:latin typeface="Calibri"/>
              </a:defRPr>
            </a:pPr>
            <a:r>
              <a:rPr b="1" sz="1200">
                <a:solidFill>
                  <a:srgbClr val="38BDF8"/>
                </a:solidFill>
              </a:rPr>
              <a:t>  FOREIGN KEY</a:t>
            </a:r>
            <a:r>
              <a:rPr sz="1200">
                <a:solidFill>
                  <a:srgbClr val="F0F0FA"/>
                </a:solidFill>
              </a:rPr>
              <a:t>   →   EVENT → FACULTY, REGISTRATION → STUDENT, EVENT</a:t>
            </a:r>
            <a:r>
              <a:rPr sz="1100">
                <a:solidFill>
                  <a:srgbClr val="94A3B8"/>
                </a:solidFill>
              </a:rPr>
              <a:t>   (Referential links)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157216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A"/>
                </a:solidFill>
                <a:latin typeface="Calibri"/>
              </a:defRPr>
            </a:pPr>
            <a:r>
              <a:rPr b="1" sz="1200">
                <a:solidFill>
                  <a:srgbClr val="38BDF8"/>
                </a:solidFill>
              </a:rPr>
              <a:t>  UNIQUE</a:t>
            </a:r>
            <a:r>
              <a:rPr sz="1200">
                <a:solidFill>
                  <a:srgbClr val="F0F0FA"/>
                </a:solidFill>
              </a:rPr>
              <a:t>   →   Student USN, Student Email, Faculty Email</a:t>
            </a:r>
            <a:r>
              <a:rPr sz="1100">
                <a:solidFill>
                  <a:srgbClr val="94A3B8"/>
                </a:solidFill>
              </a:rPr>
              <a:t>   (No duplicates)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449824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A"/>
                </a:solidFill>
                <a:latin typeface="Calibri"/>
              </a:defRPr>
            </a:pPr>
            <a:r>
              <a:rPr b="1" sz="1200">
                <a:solidFill>
                  <a:srgbClr val="38BDF8"/>
                </a:solidFill>
              </a:rPr>
              <a:t>  NOT NULL</a:t>
            </a:r>
            <a:r>
              <a:rPr sz="1200">
                <a:solidFill>
                  <a:srgbClr val="F0F0FA"/>
                </a:solidFill>
              </a:rPr>
              <a:t>   →   Name, Email, Password, USN, Date, Venue</a:t>
            </a:r>
            <a:r>
              <a:rPr sz="1100">
                <a:solidFill>
                  <a:srgbClr val="94A3B8"/>
                </a:solidFill>
              </a:rPr>
              <a:t>   (Required fields)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74243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A"/>
                </a:solidFill>
                <a:latin typeface="Calibri"/>
              </a:defRPr>
            </a:pPr>
            <a:r>
              <a:rPr b="1" sz="1200">
                <a:solidFill>
                  <a:srgbClr val="38BDF8"/>
                </a:solidFill>
              </a:rPr>
              <a:t>  COMPOSITE UNIQUE</a:t>
            </a:r>
            <a:r>
              <a:rPr sz="1200">
                <a:solidFill>
                  <a:srgbClr val="F0F0FA"/>
                </a:solidFill>
              </a:rPr>
              <a:t>   →   UNIQUE(Student_ID, Event_ID) in REGISTRATION</a:t>
            </a:r>
            <a:r>
              <a:rPr sz="1100">
                <a:solidFill>
                  <a:srgbClr val="94A3B8"/>
                </a:solidFill>
              </a:rPr>
              <a:t>   (Prevents double registration)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60350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A"/>
                </a:solidFill>
                <a:latin typeface="Calibri"/>
              </a:defRPr>
            </a:pPr>
            <a:r>
              <a:rPr b="1" sz="1200">
                <a:solidFill>
                  <a:srgbClr val="38BDF8"/>
                </a:solidFill>
              </a:rPr>
              <a:t>  DEFAULT</a:t>
            </a:r>
            <a:r>
              <a:rPr sz="1200">
                <a:solidFill>
                  <a:srgbClr val="F0F0FA"/>
                </a:solidFill>
              </a:rPr>
              <a:t>   →   Max_Seats DEFAULT 100, Timestamp DEFAULT CURRENT_TIMESTAMP</a:t>
            </a:r>
            <a:r>
              <a:rPr sz="1100">
                <a:solidFill>
                  <a:srgbClr val="94A3B8"/>
                </a:solidFill>
              </a:rPr>
              <a:t>   (Auto-fill values)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7432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38BDF8"/>
                </a:solidFill>
                <a:latin typeface="Calibri"/>
              </a:defRPr>
            </a:pPr>
            <a:r>
              <a:t>⚡  Database Features — Trigger &amp; 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97280"/>
            <a:ext cx="5486400" cy="5029200"/>
          </a:xfrm>
          <a:prstGeom prst="roundRect">
            <a:avLst/>
          </a:prstGeom>
          <a:solidFill>
            <a:srgbClr val="1E2945"/>
          </a:solidFill>
          <a:ln w="12700">
            <a:solidFill>
              <a:srgbClr val="3741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B923C"/>
                </a:solidFill>
                <a:latin typeface="Calibri"/>
              </a:defRPr>
            </a:pPr>
            <a:r>
              <a:t>⚡  Trigger: Prevent Overbooking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0F0FA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400" b="0">
                <a:solidFill>
                  <a:srgbClr val="38BDF8"/>
                </a:solidFill>
              </a:defRPr>
            </a:pPr>
            <a:r>
              <a:t>Type:  BEFORE INSERT trigger on REGISTRATION</a:t>
            </a:r>
          </a:p>
          <a:p>
            <a:pPr algn="l">
              <a:spcBef>
                <a:spcPts val="400"/>
              </a:spcBef>
              <a:defRPr sz="800" b="0">
                <a:solidFill>
                  <a:srgbClr val="F0F0FA"/>
                </a:solidFill>
              </a:defRPr>
            </a:pPr>
          </a:p>
          <a:p>
            <a:pPr algn="l">
              <a:spcBef>
                <a:spcPts val="800"/>
              </a:spcBef>
              <a:defRPr sz="1500" b="1">
                <a:solidFill>
                  <a:srgbClr val="F0F0FA"/>
                </a:solidFill>
              </a:defRPr>
            </a:pPr>
            <a:r>
              <a:t>What it does: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F0F0FA"/>
                </a:solidFill>
              </a:defRPr>
            </a:pPr>
            <a:r>
              <a:t>▸  Fires automatically before any new registration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F0F0FA"/>
                </a:solidFill>
              </a:defRPr>
            </a:pPr>
            <a:r>
              <a:t>▸  Counts current registrations for that event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F0F0FA"/>
                </a:solidFill>
              </a:defRPr>
            </a:pPr>
            <a:r>
              <a:t>▸  Compares count with Max_Seats of the event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FB923C"/>
                </a:solidFill>
              </a:defRPr>
            </a:pPr>
            <a:r>
              <a:t>▸  If event is FULL → ABORTs the insert automatically</a:t>
            </a:r>
          </a:p>
          <a:p>
            <a:pPr algn="l">
              <a:spcBef>
                <a:spcPts val="400"/>
              </a:spcBef>
              <a:defRPr sz="800" b="0">
                <a:solidFill>
                  <a:srgbClr val="F0F0FA"/>
                </a:solidFill>
              </a:defRPr>
            </a:pPr>
          </a:p>
          <a:p>
            <a:pPr algn="l">
              <a:spcBef>
                <a:spcPts val="800"/>
              </a:spcBef>
              <a:defRPr sz="1500" b="1">
                <a:solidFill>
                  <a:srgbClr val="F0F0FA"/>
                </a:solidFill>
              </a:defRPr>
            </a:pPr>
            <a:r>
              <a:t>Why it matters: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F0F0FA"/>
                </a:solidFill>
              </a:defRPr>
            </a:pPr>
            <a:r>
              <a:t>▸  Database-level enforcement, not just application code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F0F0FA"/>
                </a:solidFill>
              </a:defRPr>
            </a:pPr>
            <a:r>
              <a:t>▸  Impossible to overbook even via direct SQL access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34D399"/>
                </a:solidFill>
              </a:defRPr>
            </a:pPr>
            <a:r>
              <a:t>▸  Ensures data consistency at all times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097280"/>
            <a:ext cx="5486400" cy="5029200"/>
          </a:xfrm>
          <a:prstGeom prst="roundRect">
            <a:avLst/>
          </a:prstGeom>
          <a:solidFill>
            <a:srgbClr val="1E2945"/>
          </a:solidFill>
          <a:ln w="12700">
            <a:solidFill>
              <a:srgbClr val="3741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18872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391FF"/>
                </a:solidFill>
                <a:latin typeface="Calibri"/>
              </a:defRPr>
            </a:pPr>
            <a:r>
              <a:t>👁️  View: Participation 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7373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0F0FA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400" b="0">
                <a:solidFill>
                  <a:srgbClr val="38BDF8"/>
                </a:solidFill>
              </a:defRPr>
            </a:pPr>
            <a:r>
              <a:t>View Name:  vw_event_participation</a:t>
            </a:r>
          </a:p>
          <a:p>
            <a:pPr algn="l">
              <a:spcBef>
                <a:spcPts val="400"/>
              </a:spcBef>
              <a:defRPr sz="800" b="0">
                <a:solidFill>
                  <a:srgbClr val="F0F0FA"/>
                </a:solidFill>
              </a:defRPr>
            </a:pPr>
          </a:p>
          <a:p>
            <a:pPr algn="l">
              <a:spcBef>
                <a:spcPts val="800"/>
              </a:spcBef>
              <a:defRPr sz="1500" b="1">
                <a:solidFill>
                  <a:srgbClr val="F0F0FA"/>
                </a:solidFill>
              </a:defRPr>
            </a:pPr>
            <a:r>
              <a:t>What it does: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F0F0FA"/>
                </a:solidFill>
              </a:defRPr>
            </a:pPr>
            <a:r>
              <a:t>▸  A virtual table (no data stored separately)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F0F0FA"/>
                </a:solidFill>
              </a:defRPr>
            </a:pPr>
            <a:r>
              <a:t>▸  JOINs 3 tables: EVENT + FACULTY + REGISTRATION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F0F0FA"/>
                </a:solidFill>
              </a:defRPr>
            </a:pPr>
            <a:r>
              <a:t>▸  Uses GROUP BY to count participants per event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F0F0FA"/>
                </a:solidFill>
              </a:defRPr>
            </a:pPr>
            <a:r>
              <a:t>▸  Shows event name, date, venue, admin, count</a:t>
            </a:r>
          </a:p>
          <a:p>
            <a:pPr algn="l">
              <a:spcBef>
                <a:spcPts val="400"/>
              </a:spcBef>
              <a:defRPr sz="800" b="0">
                <a:solidFill>
                  <a:srgbClr val="F0F0FA"/>
                </a:solidFill>
              </a:defRPr>
            </a:pPr>
          </a:p>
          <a:p>
            <a:pPr algn="l">
              <a:spcBef>
                <a:spcPts val="800"/>
              </a:spcBef>
              <a:defRPr sz="1500" b="1">
                <a:solidFill>
                  <a:srgbClr val="F0F0FA"/>
                </a:solidFill>
              </a:defRPr>
            </a:pPr>
            <a:r>
              <a:t>Why it matters: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F0F0FA"/>
                </a:solidFill>
              </a:defRPr>
            </a:pPr>
            <a:r>
              <a:t>▸  Simplifies complex queries into a single access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F0F0FA"/>
                </a:solidFill>
              </a:defRPr>
            </a:pPr>
            <a:r>
              <a:t>▸  Always returns real-time data from base tables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34D399"/>
                </a:solidFill>
              </a:defRPr>
            </a:pPr>
            <a:r>
              <a:t>▸  Used in admin dashboard for live statistics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7432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38BDF8"/>
                </a:solidFill>
                <a:latin typeface="Calibri"/>
              </a:defRPr>
            </a:pPr>
            <a:r>
              <a:t>🔄  Transactions &amp; ACID Properties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97280"/>
            <a:ext cx="5486400" cy="2743200"/>
          </a:xfrm>
          <a:prstGeom prst="roundRect">
            <a:avLst/>
          </a:prstGeom>
          <a:solidFill>
            <a:srgbClr val="1E2945"/>
          </a:solidFill>
          <a:ln w="12700">
            <a:solidFill>
              <a:srgbClr val="3741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ACC15"/>
                </a:solidFill>
                <a:latin typeface="Calibri"/>
              </a:defRPr>
            </a:pPr>
            <a:r>
              <a:t>Transaction: Event Registration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0F0FA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400" b="0">
                <a:solidFill>
                  <a:srgbClr val="38BDF8"/>
                </a:solidFill>
              </a:defRPr>
            </a:pPr>
            <a:r>
              <a:t>Step 1 →  BEGIN transaction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0F0FA"/>
                </a:solidFill>
              </a:defRPr>
            </a:pPr>
            <a:r>
              <a:t>Step 2 →  Verify event exists in database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0F0FA"/>
                </a:solidFill>
              </a:defRPr>
            </a:pPr>
            <a:r>
              <a:t>Step 3 →  Insert registration (trigger checks capacity)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34D399"/>
                </a:solidFill>
              </a:defRPr>
            </a:pPr>
            <a:r>
              <a:t>Step 4a →  COMMIT if everything succeeds ✓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B7185"/>
                </a:solidFill>
              </a:defRPr>
            </a:pPr>
            <a:r>
              <a:t>Step 4b →  ROLLBACK if any error occurs ✗</a:t>
            </a:r>
          </a:p>
          <a:p>
            <a:pPr algn="l">
              <a:spcBef>
                <a:spcPts val="400"/>
              </a:spcBef>
              <a:defRPr sz="600" b="0">
                <a:solidFill>
                  <a:srgbClr val="F0F0FA"/>
                </a:solidFill>
              </a:defRPr>
            </a:pPr>
          </a:p>
          <a:p>
            <a:pPr algn="l">
              <a:spcBef>
                <a:spcPts val="800"/>
              </a:spcBef>
              <a:defRPr sz="1400" b="1">
                <a:solidFill>
                  <a:srgbClr val="FACC15"/>
                </a:solidFill>
              </a:defRPr>
            </a:pPr>
            <a:r>
              <a:t>→  Either ALL steps succeed or NONE take effect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097280"/>
            <a:ext cx="1325880" cy="2743200"/>
          </a:xfrm>
          <a:prstGeom prst="roundRect">
            <a:avLst/>
          </a:prstGeom>
          <a:solidFill>
            <a:srgbClr val="1E2945"/>
          </a:solidFill>
          <a:ln w="12700">
            <a:solidFill>
              <a:srgbClr val="3741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0" y="1188720"/>
            <a:ext cx="1325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38BDF8"/>
                </a:solidFill>
                <a:latin typeface="Calibri"/>
              </a:defRPr>
            </a:pPr>
            <a: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73736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ACC15"/>
                </a:solidFill>
                <a:latin typeface="Calibri"/>
              </a:defRPr>
            </a:pPr>
            <a:r>
              <a:t>Atomicity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59" y="2194560"/>
            <a:ext cx="1143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All or nothing — partial</a:t>
            </a:r>
            <a:br/>
            <a:r>
              <a:t>operations are impossible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1097280"/>
            <a:ext cx="1325880" cy="2743200"/>
          </a:xfrm>
          <a:prstGeom prst="roundRect">
            <a:avLst/>
          </a:prstGeom>
          <a:solidFill>
            <a:srgbClr val="1E2945"/>
          </a:solidFill>
          <a:ln w="12700">
            <a:solidFill>
              <a:srgbClr val="3741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0" y="1188720"/>
            <a:ext cx="1325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38BDF8"/>
                </a:solidFill>
                <a:latin typeface="Calibri"/>
              </a:defRPr>
            </a:pPr>
            <a:r>
              <a:t>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173736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ACC15"/>
                </a:solidFill>
                <a:latin typeface="Calibri"/>
              </a:defRPr>
            </a:pPr>
            <a:r>
              <a:t>Consistency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2194560"/>
            <a:ext cx="1143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Database moves from one</a:t>
            </a:r>
            <a:br/>
            <a:r>
              <a:t>valid state to another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1097280"/>
            <a:ext cx="1325880" cy="2743200"/>
          </a:xfrm>
          <a:prstGeom prst="roundRect">
            <a:avLst/>
          </a:prstGeom>
          <a:solidFill>
            <a:srgbClr val="1E2945"/>
          </a:solidFill>
          <a:ln w="12700">
            <a:solidFill>
              <a:srgbClr val="3741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0" y="1188720"/>
            <a:ext cx="1325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38BDF8"/>
                </a:solidFill>
                <a:latin typeface="Calibri"/>
              </a:defRPr>
            </a:pPr>
            <a:r>
              <a:t>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173736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ACC15"/>
                </a:solidFill>
                <a:latin typeface="Calibri"/>
              </a:defRPr>
            </a:pPr>
            <a:r>
              <a:t>Isolation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2194560"/>
            <a:ext cx="1143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Concurrent transactions</a:t>
            </a:r>
            <a:br/>
            <a:r>
              <a:t>don't interfere with each other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607040" y="1097280"/>
            <a:ext cx="1325880" cy="2743200"/>
          </a:xfrm>
          <a:prstGeom prst="roundRect">
            <a:avLst/>
          </a:prstGeom>
          <a:solidFill>
            <a:srgbClr val="1E2945"/>
          </a:solidFill>
          <a:ln w="12700">
            <a:solidFill>
              <a:srgbClr val="3741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07040" y="1188720"/>
            <a:ext cx="1325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38BDF8"/>
                </a:solidFill>
                <a:latin typeface="Calibri"/>
              </a:defRPr>
            </a:pPr>
            <a: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173736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ACC15"/>
                </a:solidFill>
                <a:latin typeface="Calibri"/>
              </a:defRPr>
            </a:pPr>
            <a:r>
              <a:t>Durability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0" y="2194560"/>
            <a:ext cx="1143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Once committed, data</a:t>
            </a:r>
            <a:br/>
            <a:r>
              <a:t>survives system crashes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206240"/>
            <a:ext cx="11155680" cy="2286000"/>
          </a:xfrm>
          <a:prstGeom prst="roundRect">
            <a:avLst/>
          </a:prstGeom>
          <a:solidFill>
            <a:srgbClr val="1E2945"/>
          </a:solidFill>
          <a:ln w="12700">
            <a:solidFill>
              <a:srgbClr val="3741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29768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DF8"/>
                </a:solidFill>
                <a:latin typeface="Calibri"/>
              </a:defRPr>
            </a:pPr>
            <a:r>
              <a:t>📑  Indexes for Performance Optimization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75488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0F0FA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400" b="0">
                <a:solidFill>
                  <a:srgbClr val="F0F0FA"/>
                </a:solidFill>
              </a:defRPr>
            </a:pPr>
            <a:r>
              <a:t>▸  Index on REGISTRATION(Student_ID)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94A3B8"/>
                </a:solidFill>
              </a:defRPr>
            </a:pPr>
            <a:r>
              <a:t>    → Fast lookup of student's registrations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0F0FA"/>
                </a:solidFill>
              </a:defRPr>
            </a:pPr>
            <a:r>
              <a:t>▸  Index on REGISTRATION(Event_ID)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94A3B8"/>
                </a:solidFill>
              </a:defRPr>
            </a:pPr>
            <a:r>
              <a:t>    → Fast participant count per event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475488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0F0FA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400" b="0">
                <a:solidFill>
                  <a:srgbClr val="F0F0FA"/>
                </a:solidFill>
              </a:defRPr>
            </a:pPr>
            <a:r>
              <a:t>▸  Index on EVENT(Faculty_ID)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94A3B8"/>
                </a:solidFill>
              </a:defRPr>
            </a:pPr>
            <a:r>
              <a:t>    → Fast lookup of admin's events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0F0FA"/>
                </a:solidFill>
              </a:defRPr>
            </a:pPr>
            <a:r>
              <a:t>▸  Index on EVENT(Date)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94A3B8"/>
                </a:solidFill>
              </a:defRPr>
            </a:pPr>
            <a:r>
              <a:t>    → Fast sorting and filtering by date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7432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38BDF8"/>
                </a:solidFill>
                <a:latin typeface="Calibri"/>
              </a:defRPr>
            </a:pPr>
            <a:r>
              <a:t>📝  SQL Operations &amp; Methodology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05840"/>
            <a:ext cx="5486400" cy="5029200"/>
          </a:xfrm>
          <a:prstGeom prst="roundRect">
            <a:avLst/>
          </a:prstGeom>
          <a:solidFill>
            <a:srgbClr val="1E2945"/>
          </a:solidFill>
          <a:ln w="12700">
            <a:solidFill>
              <a:srgbClr val="3741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ACC15"/>
                </a:solidFill>
                <a:latin typeface="Calibri"/>
              </a:defRPr>
            </a:pPr>
            <a:r>
              <a:t>Data Manipulation &amp; Queries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0F0FA"/>
                </a:solidFill>
                <a:latin typeface="Calibri"/>
              </a:defRPr>
            </a:pPr>
            <a:r>
              <a:rPr b="1" sz="1600">
                <a:solidFill>
                  <a:srgbClr val="38BDF8"/>
                </a:solidFill>
              </a:rPr>
              <a:t>INSERT</a:t>
            </a:r>
          </a:p>
          <a:p>
            <a:pPr algn="l">
              <a:spcBef>
                <a:spcPts val="200"/>
              </a:spcBef>
              <a:defRPr sz="1300" b="0">
                <a:solidFill>
                  <a:srgbClr val="94A3B8"/>
                </a:solidFill>
              </a:defRPr>
            </a:pPr>
            <a:r>
              <a:t>Adding new students, admins, events, registrations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0F0FA"/>
                </a:solidFill>
                <a:latin typeface="Calibri"/>
              </a:defRPr>
            </a:pPr>
            <a:r>
              <a:rPr b="1" sz="1600">
                <a:solidFill>
                  <a:srgbClr val="38BDF8"/>
                </a:solidFill>
              </a:rPr>
              <a:t>SELECT</a:t>
            </a:r>
          </a:p>
          <a:p>
            <a:pPr algn="l">
              <a:spcBef>
                <a:spcPts val="200"/>
              </a:spcBef>
              <a:defRPr sz="1300" b="0">
                <a:solidFill>
                  <a:srgbClr val="94A3B8"/>
                </a:solidFill>
              </a:defRPr>
            </a:pPr>
            <a:r>
              <a:t>Querying data with WHERE, LIKE for search/filter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8328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0F0FA"/>
                </a:solidFill>
                <a:latin typeface="Calibri"/>
              </a:defRPr>
            </a:pPr>
            <a:r>
              <a:rPr b="1" sz="1600">
                <a:solidFill>
                  <a:srgbClr val="38BDF8"/>
                </a:solidFill>
              </a:rPr>
              <a:t>UPDATE</a:t>
            </a:r>
          </a:p>
          <a:p>
            <a:pPr algn="l">
              <a:spcBef>
                <a:spcPts val="200"/>
              </a:spcBef>
              <a:defRPr sz="1300" b="0">
                <a:solidFill>
                  <a:srgbClr val="94A3B8"/>
                </a:solidFill>
              </a:defRPr>
            </a:pPr>
            <a:r>
              <a:t>Modifying event details (name, date, venue, seats)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29768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0F0FA"/>
                </a:solidFill>
                <a:latin typeface="Calibri"/>
              </a:defRPr>
            </a:pPr>
            <a:r>
              <a:rPr b="1" sz="1600">
                <a:solidFill>
                  <a:srgbClr val="38BDF8"/>
                </a:solidFill>
              </a:rPr>
              <a:t>DELETE</a:t>
            </a:r>
          </a:p>
          <a:p>
            <a:pPr algn="l">
              <a:spcBef>
                <a:spcPts val="200"/>
              </a:spcBef>
              <a:defRPr sz="1300" b="0">
                <a:solidFill>
                  <a:srgbClr val="94A3B8"/>
                </a:solidFill>
              </a:defRPr>
            </a:pPr>
            <a:r>
              <a:t>Removing events, students, and registrations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21208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0F0FA"/>
                </a:solidFill>
                <a:latin typeface="Calibri"/>
              </a:defRPr>
            </a:pPr>
            <a:r>
              <a:rPr b="1" sz="1600">
                <a:solidFill>
                  <a:srgbClr val="6391FF"/>
                </a:solidFill>
              </a:rPr>
              <a:t>JOIN</a:t>
            </a:r>
          </a:p>
          <a:p>
            <a:pPr algn="l">
              <a:spcBef>
                <a:spcPts val="200"/>
              </a:spcBef>
              <a:defRPr sz="1300" b="0">
                <a:solidFill>
                  <a:srgbClr val="94A3B8"/>
                </a:solidFill>
              </a:defRPr>
            </a:pPr>
            <a:r>
              <a:t>LEFT JOIN across 3 tables (Event ↔ Faculty ↔ Registration)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005840"/>
            <a:ext cx="5486400" cy="5029200"/>
          </a:xfrm>
          <a:prstGeom prst="roundRect">
            <a:avLst/>
          </a:prstGeom>
          <a:solidFill>
            <a:srgbClr val="1E2945"/>
          </a:solidFill>
          <a:ln w="12700">
            <a:solidFill>
              <a:srgbClr val="3741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0972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ACC15"/>
                </a:solidFill>
                <a:latin typeface="Calibri"/>
              </a:defRPr>
            </a:pPr>
            <a:r>
              <a:t>Advanced Features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155448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0F0FA"/>
                </a:solidFill>
                <a:latin typeface="Calibri"/>
              </a:defRPr>
            </a:pPr>
            <a:r>
              <a:rPr b="1" sz="1600">
                <a:solidFill>
                  <a:srgbClr val="6391FF"/>
                </a:solidFill>
              </a:rPr>
              <a:t>GROUP BY</a:t>
            </a:r>
          </a:p>
          <a:p>
            <a:pPr algn="l">
              <a:spcBef>
                <a:spcPts val="200"/>
              </a:spcBef>
              <a:defRPr sz="1300" b="0">
                <a:solidFill>
                  <a:srgbClr val="94A3B8"/>
                </a:solidFill>
              </a:defRPr>
            </a:pPr>
            <a:r>
              <a:t>Counting participants per event (aggregation)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46888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0F0FA"/>
                </a:solidFill>
                <a:latin typeface="Calibri"/>
              </a:defRPr>
            </a:pPr>
            <a:r>
              <a:rPr b="1" sz="1600">
                <a:solidFill>
                  <a:srgbClr val="6391FF"/>
                </a:solidFill>
              </a:rPr>
              <a:t>SUBQUERY</a:t>
            </a:r>
          </a:p>
          <a:p>
            <a:pPr algn="l">
              <a:spcBef>
                <a:spcPts val="200"/>
              </a:spcBef>
              <a:defRPr sz="1300" b="0">
                <a:solidFill>
                  <a:srgbClr val="94A3B8"/>
                </a:solidFill>
              </a:defRPr>
            </a:pPr>
            <a:r>
              <a:t>Inline participant count within SELECT statements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38328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0F0FA"/>
                </a:solidFill>
                <a:latin typeface="Calibri"/>
              </a:defRPr>
            </a:pPr>
            <a:r>
              <a:rPr b="1" sz="1600">
                <a:solidFill>
                  <a:srgbClr val="FB923C"/>
                </a:solidFill>
              </a:rPr>
              <a:t>TRIGGER</a:t>
            </a:r>
          </a:p>
          <a:p>
            <a:pPr algn="l">
              <a:spcBef>
                <a:spcPts val="200"/>
              </a:spcBef>
              <a:defRPr sz="1300" b="0">
                <a:solidFill>
                  <a:srgbClr val="94A3B8"/>
                </a:solidFill>
              </a:defRPr>
            </a:pPr>
            <a:r>
              <a:t>Automatic overbooking prevention (BEFORE INSERT)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429768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0F0FA"/>
                </a:solidFill>
                <a:latin typeface="Calibri"/>
              </a:defRPr>
            </a:pPr>
            <a:r>
              <a:rPr b="1" sz="1600">
                <a:solidFill>
                  <a:srgbClr val="FB923C"/>
                </a:solidFill>
              </a:rPr>
              <a:t>VIEW</a:t>
            </a:r>
          </a:p>
          <a:p>
            <a:pPr algn="l">
              <a:spcBef>
                <a:spcPts val="200"/>
              </a:spcBef>
              <a:defRPr sz="1300" b="0">
                <a:solidFill>
                  <a:srgbClr val="94A3B8"/>
                </a:solidFill>
              </a:defRPr>
            </a:pPr>
            <a:r>
              <a:t>Virtual table for participation summary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521208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0F0FA"/>
                </a:solidFill>
                <a:latin typeface="Calibri"/>
              </a:defRPr>
            </a:pPr>
            <a:r>
              <a:rPr b="1" sz="1600">
                <a:solidFill>
                  <a:srgbClr val="34D399"/>
                </a:solidFill>
              </a:rPr>
              <a:t>TRANSACTION</a:t>
            </a:r>
          </a:p>
          <a:p>
            <a:pPr algn="l">
              <a:spcBef>
                <a:spcPts val="200"/>
              </a:spcBef>
              <a:defRPr sz="1300" b="0">
                <a:solidFill>
                  <a:srgbClr val="94A3B8"/>
                </a:solidFill>
              </a:defRPr>
            </a:pPr>
            <a:r>
              <a:t>ACID-compliant BEGIN / COMMIT / ROLLBACK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09728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0">
                <a:solidFill>
                  <a:srgbClr val="F0F0FA"/>
                </a:solidFill>
                <a:latin typeface="Calibri"/>
              </a:defRPr>
            </a:pPr>
            <a:r>
              <a:t>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011680"/>
            <a:ext cx="121916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38BDF8"/>
                </a:solidFill>
                <a:latin typeface="Calibri"/>
              </a:defRPr>
            </a:pPr>
            <a:r>
              <a:t>Thank You!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9260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391FF"/>
                </a:solidFill>
                <a:latin typeface="Calibri"/>
              </a:defRPr>
            </a:pPr>
            <a:r>
              <a:t>Smart College Event Management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3931920"/>
            <a:ext cx="1463040" cy="1371600"/>
          </a:xfrm>
          <a:prstGeom prst="roundRect">
            <a:avLst/>
          </a:prstGeom>
          <a:solidFill>
            <a:srgbClr val="1E2945"/>
          </a:solidFill>
          <a:ln w="12700">
            <a:solidFill>
              <a:srgbClr val="3741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02336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38BDF8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6634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Tables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63240" y="3931920"/>
            <a:ext cx="1463040" cy="1371600"/>
          </a:xfrm>
          <a:prstGeom prst="roundRect">
            <a:avLst/>
          </a:prstGeom>
          <a:solidFill>
            <a:srgbClr val="1E2945"/>
          </a:solidFill>
          <a:ln w="12700">
            <a:solidFill>
              <a:srgbClr val="3741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63240" y="402336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38BDF8"/>
                </a:solidFill>
                <a:latin typeface="Calibri"/>
              </a:defRPr>
            </a:pPr>
            <a:r>
              <a:t>BCNF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3240" y="46634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Normalized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0" y="3931920"/>
            <a:ext cx="1463040" cy="1371600"/>
          </a:xfrm>
          <a:prstGeom prst="roundRect">
            <a:avLst/>
          </a:prstGeom>
          <a:solidFill>
            <a:srgbClr val="1E2945"/>
          </a:solidFill>
          <a:ln w="12700">
            <a:solidFill>
              <a:srgbClr val="3741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402336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38BDF8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46634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Trigger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46520" y="3931920"/>
            <a:ext cx="1463040" cy="1371600"/>
          </a:xfrm>
          <a:prstGeom prst="roundRect">
            <a:avLst/>
          </a:prstGeom>
          <a:solidFill>
            <a:srgbClr val="1E2945"/>
          </a:solidFill>
          <a:ln w="12700">
            <a:solidFill>
              <a:srgbClr val="3741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402336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38BDF8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46634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View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3931920"/>
            <a:ext cx="1463040" cy="1371600"/>
          </a:xfrm>
          <a:prstGeom prst="roundRect">
            <a:avLst/>
          </a:prstGeom>
          <a:solidFill>
            <a:srgbClr val="1E2945"/>
          </a:solidFill>
          <a:ln w="12700">
            <a:solidFill>
              <a:srgbClr val="3741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0" y="402336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38BDF8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46634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Indexes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829800" y="3931920"/>
            <a:ext cx="1463040" cy="1371600"/>
          </a:xfrm>
          <a:prstGeom prst="roundRect">
            <a:avLst/>
          </a:prstGeom>
          <a:solidFill>
            <a:srgbClr val="1E2945"/>
          </a:solidFill>
          <a:ln w="12700">
            <a:solidFill>
              <a:srgbClr val="3741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29800" y="402336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38BDF8"/>
                </a:solidFill>
                <a:latin typeface="Calibri"/>
              </a:defRPr>
            </a:pPr>
            <a:r>
              <a:t>ACID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29800" y="46634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Compliant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0" y="576072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  <a:latin typeface="Calibri"/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